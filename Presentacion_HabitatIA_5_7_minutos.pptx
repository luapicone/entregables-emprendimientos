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8FAFC"/>
                </a:solidFill>
                <a:latin typeface="Aptos Display"/>
              </a:rPr>
              <a:t>HabitatIA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2E8F0"/>
                </a:solidFill>
                <a:latin typeface="Aptos"/>
              </a:rPr>
              <a:t>Presentación ejecutiva | 5 a 7 minutos | Emprendimientos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704088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F8FAFC"/>
                </a:solidFill>
                <a:latin typeface="Aptos Display"/>
              </a:rPr>
              <a:t>Planificación habitacional asistida + reutilización inteligente de materiales</a:t>
            </a:r>
          </a:p>
          <a:p>
            <a:pPr>
              <a:spcBef>
                <a:spcPts val="1800"/>
              </a:spcBef>
            </a:pPr>
            <a:r>
              <a:rPr sz="1900">
                <a:solidFill>
                  <a:srgbClr val="E2E8F0"/>
                </a:solidFill>
                <a:latin typeface="Aptos"/>
              </a:rPr>
              <a:t>Una plataforma PropTech que ordena la decisión inicial de construir, reduce incertidumbre y abre ahorro real mediante un marketplace de sobrantes de obra.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645920"/>
            <a:ext cx="2834640" cy="310896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8FAFC"/>
                </a:solidFill>
              </a:rPr>
              <a:t>Problema
real</a:t>
            </a:r>
          </a:p>
          <a:p>
            <a:pPr algn="ctr"/>
            <a:r>
              <a:rPr sz="1400">
                <a:solidFill>
                  <a:srgbClr val="F8FAFC"/>
                </a:solidFill>
              </a:rPr>
              <a:t>Falta de claridad</a:t>
            </a:r>
          </a:p>
          <a:p>
            <a:pPr algn="ctr"/>
            <a:r>
              <a:rPr sz="1400">
                <a:solidFill>
                  <a:srgbClr val="F8FAFC"/>
                </a:solidFill>
              </a:rPr>
              <a:t>Sobrecostos</a:t>
            </a:r>
          </a:p>
          <a:p>
            <a:pPr algn="ctr"/>
            <a:r>
              <a:rPr sz="1400">
                <a:solidFill>
                  <a:srgbClr val="F8FAFC"/>
                </a:solidFill>
              </a:rPr>
              <a:t>Materiales sobrantes mal usados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E2E8F0"/>
                </a:solidFill>
                <a:latin typeface="Aptos"/>
              </a:rPr>
              <a:t>Equipo: Luca Picone, Ignacio Sanguinetti, Aquiles Luzuriaga, Antonio Cocca y Felipe Villares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0F172A"/>
                </a:solidFill>
                <a:latin typeface="Aptos Display"/>
              </a:rPr>
              <a:t>1. Problema y oportunidad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Aptos"/>
              </a:rPr>
              <a:t>Muchas familias quieren construir o ampliar, pero se frenan antes de empezar por falta de claridad presupuestaria, técnica y visual.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Aptos"/>
              </a:rPr>
              <a:t>La etapa de preplanificación hoy está fragmentada: ideas sueltas, referencias dispersas, materiales poco entendibles y presupuestos inciertos.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Aptos"/>
              </a:rPr>
              <a:t>En paralelo, arquitectos, estudios y constructoras acumulan sobrantes con valor de uso que suelen inmovilizarse, venderse mal o desperdiciarse.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Aptos"/>
              </a:rPr>
              <a:t>La oportunidad está en integrar ambas fricciones en un solo flujo: ordenar la decisión y capturar ahorro real.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0" y="1645920"/>
            <a:ext cx="1645920" cy="12801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8FAFC"/>
                </a:solidFill>
              </a:rPr>
              <a:t>3,24 M</a:t>
            </a:r>
          </a:p>
          <a:p>
            <a:pPr algn="ctr"/>
            <a:r>
              <a:rPr sz="1100">
                <a:solidFill>
                  <a:srgbClr val="F8FAFC"/>
                </a:solidFill>
              </a:rPr>
              <a:t>Déficit habitacional estimado en Argentina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09760" y="1645920"/>
            <a:ext cx="1645920" cy="128016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8FAFC"/>
                </a:solidFill>
              </a:rPr>
              <a:t>10,7 M</a:t>
            </a:r>
          </a:p>
          <a:p>
            <a:pPr algn="ctr"/>
            <a:r>
              <a:rPr sz="1100">
                <a:solidFill>
                  <a:srgbClr val="F8FAFC"/>
                </a:solidFill>
              </a:rPr>
              <a:t>Hogares urbanos con algún problema habitacional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3200400"/>
            <a:ext cx="3474720" cy="128016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8FAFC"/>
                </a:solidFill>
              </a:rPr>
              <a:t>60,2 %</a:t>
            </a:r>
          </a:p>
          <a:p>
            <a:pPr algn="ctr"/>
            <a:r>
              <a:rPr sz="1100">
                <a:solidFill>
                  <a:srgbClr val="F8FAFC"/>
                </a:solidFill>
              </a:rPr>
              <a:t>Hogares propietarios de vivienda y terreno (INDEC 2S 2023)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4754880"/>
            <a:ext cx="3474720" cy="128016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8FAFC"/>
                </a:solidFill>
              </a:rPr>
              <a:t>10-15 %</a:t>
            </a:r>
          </a:p>
          <a:p>
            <a:pPr algn="ctr"/>
            <a:r>
              <a:rPr sz="1100">
                <a:solidFill>
                  <a:srgbClr val="F8FAFC"/>
                </a:solidFill>
              </a:rPr>
              <a:t>Desperdicio/ excedente conservador de materiales en obra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  <a:latin typeface="Aptos"/>
              </a:rPr>
              <a:t>Fuentes del entregable: Cámara Argentina de la Construcción, Fundación Tejido Urbano, INDEC.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0F172A"/>
                </a:solidFill>
                <a:latin typeface="Aptos Display"/>
              </a:rPr>
              <a:t>2. Solución propuesta: qué hace HabitatIA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2619756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0F172A"/>
                </a:solidFill>
                <a:latin typeface="Aptos"/>
              </a:rPr>
              <a:t>1. Usuario carga
necesidades, presupuesto
y preferencias</a:t>
            </a:r>
          </a:p>
        </p:txBody>
      </p:sp>
      <p:sp>
        <p:nvSpPr>
          <p:cNvPr id="4" name="Chevron 3"/>
          <p:cNvSpPr/>
          <p:nvPr/>
        </p:nvSpPr>
        <p:spPr>
          <a:xfrm>
            <a:off x="3278124" y="2267712"/>
            <a:ext cx="109728" cy="384048"/>
          </a:xfrm>
          <a:prstGeom prst="chevron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4428" y="1828800"/>
            <a:ext cx="2619756" cy="1371600"/>
          </a:xfrm>
          <a:prstGeom prst="roundRect">
            <a:avLst/>
          </a:prstGeom>
          <a:solidFill>
            <a:srgbClr val="E2E8F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0F172A"/>
                </a:solidFill>
                <a:latin typeface="Aptos"/>
              </a:rPr>
              <a:t>2. IA + reglas
ordenan la información
y generan propuesta</a:t>
            </a:r>
          </a:p>
        </p:txBody>
      </p:sp>
      <p:sp>
        <p:nvSpPr>
          <p:cNvPr id="6" name="Chevron 5"/>
          <p:cNvSpPr/>
          <p:nvPr/>
        </p:nvSpPr>
        <p:spPr>
          <a:xfrm>
            <a:off x="6062472" y="2267712"/>
            <a:ext cx="109728" cy="384048"/>
          </a:xfrm>
          <a:prstGeom prst="chevron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1828800"/>
            <a:ext cx="2619756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0F172A"/>
                </a:solidFill>
                <a:latin typeface="Aptos"/>
              </a:rPr>
              <a:t>3. Render + plano
orientativo + cómputo
y costo preliminar</a:t>
            </a:r>
          </a:p>
        </p:txBody>
      </p:sp>
      <p:sp>
        <p:nvSpPr>
          <p:cNvPr id="8" name="Chevron 7"/>
          <p:cNvSpPr/>
          <p:nvPr/>
        </p:nvSpPr>
        <p:spPr>
          <a:xfrm>
            <a:off x="8846820" y="2267712"/>
            <a:ext cx="109728" cy="384048"/>
          </a:xfrm>
          <a:prstGeom prst="chevron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93124" y="1828800"/>
            <a:ext cx="2619756" cy="1371600"/>
          </a:xfrm>
          <a:prstGeom prst="roundRect">
            <a:avLst/>
          </a:prstGeom>
          <a:solidFill>
            <a:srgbClr val="E2E8F0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0F172A"/>
                </a:solidFill>
                <a:latin typeface="Aptos"/>
              </a:rPr>
              <a:t>4. Marketplace
compara materiales
y detecta ahorro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Aptos"/>
              </a:rPr>
              <a:t>HabitatIA no vende solo una imagen atractiva: traduce una intención difusa en una propuesta accionable.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Aptos"/>
              </a:rPr>
              <a:t>El valor fuerte está en combinar visualización, lectura espacial, materiales, costo estimado y ahorro potencial.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Aptos"/>
              </a:rPr>
              <a:t>La arquitectura planteada es modular: LLMs para interpretar, reglas para coherencia, datos estructurados para materiales y matching para el marketplace.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  <a:latin typeface="Aptos"/>
              </a:rPr>
              <a:t>Promesa central: claridad inicial y mejor decisión, no reemplazo total del arquitecto ni presupuesto ejecutivo final.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0F172A"/>
                </a:solidFill>
                <a:latin typeface="Aptos Display"/>
              </a:rPr>
              <a:t>3. Qué validamos y qué aprendimos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Aptos"/>
              </a:rPr>
              <a:t>El dolor principal en particulares y familias no es “no tener ideas”, sino no poder calcular costos, materiales y alternativas con seguridad.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Aptos"/>
              </a:rPr>
              <a:t>El render por sí solo no alcanza. La propuesta gana fuerza cuando se combina con plano orientativo, listado de materiales y presupuesto preliminar.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Aptos"/>
              </a:rPr>
              <a:t>El marketplace interesa, pero solo si resuelve confianza: reputación, evidencia visual, garantías y logística ordenada.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Aptos"/>
              </a:rPr>
              <a:t>Del lado profesional, la adopción depende de simplicidad operativa, baja carga administrativa y salida rápida del excedente.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Aptos"/>
              </a:rPr>
              <a:t>La narrativa comercial no debe apoyarse solo en IA. Tiene que apoyarse en utilidad, claridad y respaldo.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0"/>
            <a:ext cx="10789920" cy="5943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8FAFC"/>
                </a:solidFill>
              </a:rPr>
              <a:t>Insight clave: el núcleo del valor no es la IA, es reducir incertidumbre antes de gastar mal.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  <a:latin typeface="Aptos"/>
              </a:rPr>
              <a:t>Base: entrevistas y customer discovery incorporados en el entregable final.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0F172A"/>
                </a:solidFill>
                <a:latin typeface="Aptos Display"/>
              </a:rPr>
              <a:t>4. Modelo de negocio y estrategia de entrada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303520" cy="3383280"/>
          </a:xfrm>
          <a:prstGeom prst="roundRect">
            <a:avLst/>
          </a:prstGeom>
          <a:solidFill>
            <a:srgbClr val="E6F4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200">
                <a:solidFill>
                  <a:srgbClr val="0F172A"/>
                </a:solidFill>
              </a:rPr>
              <a:t>Monetización por fases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1. Entrada gratuita para probar la experiencia inicial.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2. Plan premium sugerido alrededor de ARS 29.900 para cómputo detallado y reporte ampliado.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3. Comisión de 8 % sobre transacciones del marketplace cuando exista matching real.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4. A futuro, servicios B2B, visibilidad y alianzas.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554480"/>
            <a:ext cx="5120640" cy="3383280"/>
          </a:xfrm>
          <a:prstGeom prst="round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200">
                <a:solidFill>
                  <a:srgbClr val="0F172A"/>
                </a:solidFill>
              </a:rPr>
              <a:t>Go to market inicial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Foco en hogares con intención concreta de construir o ampliar y alta sensibilidad al costo.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Segundo frente: personas con terreno propio.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Tercer frente: arquitectos y estudios con sobrantes para poblar el marketplace.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B"/>
                </a:solidFill>
              </a:rPr>
              <a:t>Canales sugeridos: sitio, landing pages, WhatsApp, contenidos y alianzas con corralones/profesionales.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  <a:latin typeface="Aptos"/>
              </a:rPr>
              <a:t>La lógica es cobrar cuando el usuario percibe profundidad y cuando la plataforma genera valor transaccional real.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0F172A"/>
                </a:solidFill>
                <a:latin typeface="Aptos Display"/>
              </a:rPr>
              <a:t>5. Riesgos críticos y condiciones de éxito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Aptos"/>
              </a:rPr>
              <a:t>Riesgo 1: que el producto sea percibido como generador de imágenes sin profundidad económica o funcional.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Aptos"/>
              </a:rPr>
              <a:t>Riesgo 2: que el usuario interprete el presupuesto preliminar como cifra final y se rompa la confianza.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Aptos"/>
              </a:rPr>
              <a:t>Riesgo 3: que el marketplace no alcance masa crítica suficiente en oferta y calidad.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Aptos"/>
              </a:rPr>
              <a:t>Riesgo 4: dispersarse demasiado rápido e intentar resolver toda la cadena de construcción desde el inicio.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645920"/>
            <a:ext cx="3566160" cy="10972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8FAFC"/>
                </a:solidFill>
              </a:rPr>
              <a:t>Resolver bien la preplanificación</a:t>
            </a:r>
          </a:p>
          <a:p>
            <a:pPr algn="ctr"/>
            <a:r>
              <a:rPr sz="1100">
                <a:solidFill>
                  <a:srgbClr val="F8FAFC"/>
                </a:solidFill>
              </a:rPr>
              <a:t>Condición de éxito #1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3017520"/>
            <a:ext cx="3566160" cy="109728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8FAFC"/>
                </a:solidFill>
              </a:rPr>
              <a:t>Construir confianza progresiva</a:t>
            </a:r>
          </a:p>
          <a:p>
            <a:pPr algn="ctr"/>
            <a:r>
              <a:rPr sz="1100">
                <a:solidFill>
                  <a:srgbClr val="F8FAFC"/>
                </a:solidFill>
              </a:rPr>
              <a:t>Condición de éxito #2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4389120"/>
            <a:ext cx="3566160" cy="109728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8FAFC"/>
                </a:solidFill>
              </a:rPr>
              <a:t>Activar marketplace con foco en calidad</a:t>
            </a:r>
          </a:p>
          <a:p>
            <a:pPr algn="ctr"/>
            <a:r>
              <a:rPr sz="1100">
                <a:solidFill>
                  <a:srgbClr val="F8FAFC"/>
                </a:solidFill>
              </a:rPr>
              <a:t>Condición de éxito #3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  <a:latin typeface="Aptos"/>
              </a:rPr>
              <a:t>La clave no es escalar rápido, sino demostrar utilidad, credibilidad y ahorro verificable.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8FAFC"/>
                </a:solidFill>
                <a:latin typeface="Aptos Display"/>
              </a:rPr>
              <a:t>6. Cierre: por qué HabitatIA tiene sentido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875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8FAFC"/>
                </a:solidFill>
                <a:latin typeface="Aptos"/>
              </a:rPr>
              <a:t>Ataca un dolor real y frecuente: decidir cómo construir sin información clara al inicio.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8FAFC"/>
                </a:solidFill>
                <a:latin typeface="Aptos"/>
              </a:rPr>
              <a:t>Integra dos capas con lógica económica: planificación asistida + reutilización inteligente de materiales.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8FAFC"/>
                </a:solidFill>
                <a:latin typeface="Aptos"/>
              </a:rPr>
              <a:t>Tiene una oportunidad grande, pero una entrada realista: empezar por claridad y ahorro, no por escala total.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8FAFC"/>
                </a:solidFill>
                <a:latin typeface="Aptos"/>
              </a:rPr>
              <a:t>Si valida confianza, precisión percibida y masa crítica mínima, puede convertirse en una PropTech con valor social, económico y ambiental.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0" y="4526280"/>
            <a:ext cx="3200400" cy="100584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8FAFC"/>
                </a:solidFill>
              </a:rPr>
              <a:t>HabitatIA organiza una decisión que hoy llega desordenada.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E2E8F0"/>
                </a:solidFill>
                <a:latin typeface="Aptos"/>
              </a:rPr>
              <a:t>Fin | Presentación sugerida para exposición oral breve (5 a 7 minutos).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